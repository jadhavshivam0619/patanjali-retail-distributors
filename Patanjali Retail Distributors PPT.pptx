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3" r:id="rId5"/>
    <p:sldId id="261" r:id="rId6"/>
    <p:sldId id="262" r:id="rId7"/>
    <p:sldId id="264" r:id="rId8"/>
    <p:sldId id="265" r:id="rId9"/>
    <p:sldId id="266" r:id="rId10"/>
    <p:sldId id="267" r:id="rId11"/>
    <p:sldId id="268"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564"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34863020-D872-474D-A512-4809E09F90F1}"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2B304D-BAAB-475E-836A-ED6B756C5DAF}" type="slidenum">
              <a:rPr lang="en-IN" smtClean="0"/>
              <a:t>‹#›</a:t>
            </a:fld>
            <a:endParaRPr lang="en-IN"/>
          </a:p>
        </p:txBody>
      </p:sp>
    </p:spTree>
    <p:extLst>
      <p:ext uri="{BB962C8B-B14F-4D97-AF65-F5344CB8AC3E}">
        <p14:creationId xmlns:p14="http://schemas.microsoft.com/office/powerpoint/2010/main" val="3193072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863020-D872-474D-A512-4809E09F90F1}"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2B304D-BAAB-475E-836A-ED6B756C5DAF}" type="slidenum">
              <a:rPr lang="en-IN" smtClean="0"/>
              <a:t>‹#›</a:t>
            </a:fld>
            <a:endParaRPr lang="en-IN"/>
          </a:p>
        </p:txBody>
      </p:sp>
    </p:spTree>
    <p:extLst>
      <p:ext uri="{BB962C8B-B14F-4D97-AF65-F5344CB8AC3E}">
        <p14:creationId xmlns:p14="http://schemas.microsoft.com/office/powerpoint/2010/main" val="3371816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863020-D872-474D-A512-4809E09F90F1}"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2B304D-BAAB-475E-836A-ED6B756C5DAF}" type="slidenum">
              <a:rPr lang="en-IN" smtClean="0"/>
              <a:t>‹#›</a:t>
            </a:fld>
            <a:endParaRPr lang="en-IN"/>
          </a:p>
        </p:txBody>
      </p:sp>
    </p:spTree>
    <p:extLst>
      <p:ext uri="{BB962C8B-B14F-4D97-AF65-F5344CB8AC3E}">
        <p14:creationId xmlns:p14="http://schemas.microsoft.com/office/powerpoint/2010/main" val="2517882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34863020-D872-474D-A512-4809E09F90F1}"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2B304D-BAAB-475E-836A-ED6B756C5DAF}" type="slidenum">
              <a:rPr lang="en-IN" smtClean="0"/>
              <a:t>‹#›</a:t>
            </a:fld>
            <a:endParaRPr lang="en-IN"/>
          </a:p>
        </p:txBody>
      </p:sp>
    </p:spTree>
    <p:extLst>
      <p:ext uri="{BB962C8B-B14F-4D97-AF65-F5344CB8AC3E}">
        <p14:creationId xmlns:p14="http://schemas.microsoft.com/office/powerpoint/2010/main" val="2479678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34863020-D872-474D-A512-4809E09F90F1}" type="datetimeFigureOut">
              <a:rPr lang="en-IN" smtClean="0"/>
              <a:t>09-01-2026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2B304D-BAAB-475E-836A-ED6B756C5DAF}" type="slidenum">
              <a:rPr lang="en-IN" smtClean="0"/>
              <a:t>‹#›</a:t>
            </a:fld>
            <a:endParaRPr lang="en-IN"/>
          </a:p>
        </p:txBody>
      </p:sp>
    </p:spTree>
    <p:extLst>
      <p:ext uri="{BB962C8B-B14F-4D97-AF65-F5344CB8AC3E}">
        <p14:creationId xmlns:p14="http://schemas.microsoft.com/office/powerpoint/2010/main" val="42597597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34863020-D872-474D-A512-4809E09F90F1}" type="datetimeFigureOut">
              <a:rPr lang="en-IN" smtClean="0"/>
              <a:t>09-01-2026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2B304D-BAAB-475E-836A-ED6B756C5DAF}" type="slidenum">
              <a:rPr lang="en-IN" smtClean="0"/>
              <a:t>‹#›</a:t>
            </a:fld>
            <a:endParaRPr lang="en-IN"/>
          </a:p>
        </p:txBody>
      </p:sp>
    </p:spTree>
    <p:extLst>
      <p:ext uri="{BB962C8B-B14F-4D97-AF65-F5344CB8AC3E}">
        <p14:creationId xmlns:p14="http://schemas.microsoft.com/office/powerpoint/2010/main" val="32745165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863020-D872-474D-A512-4809E09F90F1}" type="datetimeFigureOut">
              <a:rPr lang="en-IN" smtClean="0"/>
              <a:t>09-01-2026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2B304D-BAAB-475E-836A-ED6B756C5DAF}" type="slidenum">
              <a:rPr lang="en-IN" smtClean="0"/>
              <a:t>‹#›</a:t>
            </a:fld>
            <a:endParaRPr lang="en-IN"/>
          </a:p>
        </p:txBody>
      </p:sp>
    </p:spTree>
    <p:extLst>
      <p:ext uri="{BB962C8B-B14F-4D97-AF65-F5344CB8AC3E}">
        <p14:creationId xmlns:p14="http://schemas.microsoft.com/office/powerpoint/2010/main" val="605571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863020-D872-474D-A512-4809E09F90F1}"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2B304D-BAAB-475E-836A-ED6B756C5DAF}" type="slidenum">
              <a:rPr lang="en-IN" smtClean="0"/>
              <a:t>‹#›</a:t>
            </a:fld>
            <a:endParaRPr lang="en-IN"/>
          </a:p>
        </p:txBody>
      </p:sp>
    </p:spTree>
    <p:extLst>
      <p:ext uri="{BB962C8B-B14F-4D97-AF65-F5344CB8AC3E}">
        <p14:creationId xmlns:p14="http://schemas.microsoft.com/office/powerpoint/2010/main" val="1987980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863020-D872-474D-A512-4809E09F90F1}" type="datetimeFigureOut">
              <a:rPr lang="en-IN" smtClean="0"/>
              <a:t>09-01-2026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2B304D-BAAB-475E-836A-ED6B756C5DAF}" type="slidenum">
              <a:rPr lang="en-IN" smtClean="0"/>
              <a:t>‹#›</a:t>
            </a:fld>
            <a:endParaRPr lang="en-IN"/>
          </a:p>
        </p:txBody>
      </p:sp>
    </p:spTree>
    <p:extLst>
      <p:ext uri="{BB962C8B-B14F-4D97-AF65-F5344CB8AC3E}">
        <p14:creationId xmlns:p14="http://schemas.microsoft.com/office/powerpoint/2010/main" val="3699100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863020-D872-474D-A512-4809E09F90F1}"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2B304D-BAAB-475E-836A-ED6B756C5DAF}" type="slidenum">
              <a:rPr lang="en-IN" smtClean="0"/>
              <a:t>‹#›</a:t>
            </a:fld>
            <a:endParaRPr lang="en-IN"/>
          </a:p>
        </p:txBody>
      </p:sp>
    </p:spTree>
    <p:extLst>
      <p:ext uri="{BB962C8B-B14F-4D97-AF65-F5344CB8AC3E}">
        <p14:creationId xmlns:p14="http://schemas.microsoft.com/office/powerpoint/2010/main" val="461842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34863020-D872-474D-A512-4809E09F90F1}" type="datetimeFigureOut">
              <a:rPr lang="en-IN" smtClean="0"/>
              <a:t>09-01-2026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2B304D-BAAB-475E-836A-ED6B756C5DAF}" type="slidenum">
              <a:rPr lang="en-IN" smtClean="0"/>
              <a:t>‹#›</a:t>
            </a:fld>
            <a:endParaRPr lang="en-IN"/>
          </a:p>
        </p:txBody>
      </p:sp>
    </p:spTree>
    <p:extLst>
      <p:ext uri="{BB962C8B-B14F-4D97-AF65-F5344CB8AC3E}">
        <p14:creationId xmlns:p14="http://schemas.microsoft.com/office/powerpoint/2010/main" val="3147300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863020-D872-474D-A512-4809E09F90F1}" type="datetimeFigureOut">
              <a:rPr lang="en-IN" smtClean="0"/>
              <a:t>09-01-2026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2B304D-BAAB-475E-836A-ED6B756C5DAF}" type="slidenum">
              <a:rPr lang="en-IN" smtClean="0"/>
              <a:t>‹#›</a:t>
            </a:fld>
            <a:endParaRPr lang="en-IN"/>
          </a:p>
        </p:txBody>
      </p:sp>
    </p:spTree>
    <p:extLst>
      <p:ext uri="{BB962C8B-B14F-4D97-AF65-F5344CB8AC3E}">
        <p14:creationId xmlns:p14="http://schemas.microsoft.com/office/powerpoint/2010/main" val="42195335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6836"/>
            <a:ext cx="9144000" cy="2382982"/>
          </a:xfrm>
        </p:spPr>
        <p:txBody>
          <a:bodyPr>
            <a:normAutofit/>
          </a:bodyPr>
          <a:lstStyle/>
          <a:p>
            <a:r>
              <a:rPr lang="en-US" sz="4000" b="1" dirty="0" smtClean="0">
                <a:latin typeface="+mn-lt"/>
              </a:rPr>
              <a:t>Sales, Profit &amp; Inventory Analysis of Patanjali Retail Distributors</a:t>
            </a:r>
            <a:br>
              <a:rPr lang="en-US" sz="4000" b="1" dirty="0" smtClean="0">
                <a:latin typeface="+mn-lt"/>
              </a:rPr>
            </a:br>
            <a:endParaRPr lang="en-IN" sz="4000" b="1" dirty="0">
              <a:latin typeface="+mn-lt"/>
            </a:endParaRPr>
          </a:p>
        </p:txBody>
      </p:sp>
      <p:sp>
        <p:nvSpPr>
          <p:cNvPr id="3" name="Subtitle 2"/>
          <p:cNvSpPr>
            <a:spLocks noGrp="1"/>
          </p:cNvSpPr>
          <p:nvPr>
            <p:ph type="subTitle" idx="1"/>
          </p:nvPr>
        </p:nvSpPr>
        <p:spPr>
          <a:xfrm>
            <a:off x="1524000" y="3602038"/>
            <a:ext cx="9144000" cy="683635"/>
          </a:xfrm>
        </p:spPr>
        <p:txBody>
          <a:bodyPr>
            <a:normAutofit/>
          </a:bodyPr>
          <a:lstStyle/>
          <a:p>
            <a:r>
              <a:rPr lang="en-IN" sz="3200" b="1" dirty="0" smtClean="0">
                <a:solidFill>
                  <a:srgbClr val="FF0000"/>
                </a:solidFill>
              </a:rPr>
              <a:t>BY:- </a:t>
            </a:r>
            <a:r>
              <a:rPr lang="en-IN" sz="3200" b="1" dirty="0" err="1" smtClean="0">
                <a:solidFill>
                  <a:srgbClr val="FF0000"/>
                </a:solidFill>
              </a:rPr>
              <a:t>Shivam</a:t>
            </a:r>
            <a:r>
              <a:rPr lang="en-IN" sz="3200" b="1" dirty="0" smtClean="0">
                <a:solidFill>
                  <a:srgbClr val="FF0000"/>
                </a:solidFill>
              </a:rPr>
              <a:t> </a:t>
            </a:r>
            <a:r>
              <a:rPr lang="en-IN" sz="3200" b="1" dirty="0" err="1" smtClean="0">
                <a:solidFill>
                  <a:srgbClr val="FF0000"/>
                </a:solidFill>
              </a:rPr>
              <a:t>Jadhav</a:t>
            </a:r>
            <a:r>
              <a:rPr lang="en-IN" sz="3200" b="1" dirty="0" smtClean="0">
                <a:solidFill>
                  <a:srgbClr val="FF0000"/>
                </a:solidFill>
              </a:rPr>
              <a:t> </a:t>
            </a:r>
            <a:endParaRPr lang="en-IN" sz="3200" b="1" dirty="0">
              <a:solidFill>
                <a:srgbClr val="FF0000"/>
              </a:solidFill>
            </a:endParaRPr>
          </a:p>
        </p:txBody>
      </p:sp>
    </p:spTree>
    <p:extLst>
      <p:ext uri="{BB962C8B-B14F-4D97-AF65-F5344CB8AC3E}">
        <p14:creationId xmlns:p14="http://schemas.microsoft.com/office/powerpoint/2010/main" val="1198959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781" y="1584326"/>
            <a:ext cx="5424055" cy="1325563"/>
          </a:xfrm>
        </p:spPr>
        <p:txBody>
          <a:bodyPr>
            <a:normAutofit/>
          </a:bodyPr>
          <a:lstStyle/>
          <a:p>
            <a:r>
              <a:rPr lang="en-IN" sz="3600" b="1" dirty="0" smtClean="0">
                <a:latin typeface="+mn-lt"/>
              </a:rPr>
              <a:t>Business Problem </a:t>
            </a:r>
            <a:r>
              <a:rPr lang="en-IN" sz="3200" b="1" dirty="0" smtClean="0">
                <a:latin typeface="+mn-lt"/>
              </a:rPr>
              <a:t>:-</a:t>
            </a:r>
            <a:endParaRPr lang="en-IN" sz="3200" b="1" dirty="0">
              <a:latin typeface="+mn-lt"/>
            </a:endParaRPr>
          </a:p>
        </p:txBody>
      </p:sp>
      <p:sp>
        <p:nvSpPr>
          <p:cNvPr id="3" name="Content Placeholder 2"/>
          <p:cNvSpPr>
            <a:spLocks noGrp="1"/>
          </p:cNvSpPr>
          <p:nvPr>
            <p:ph idx="1"/>
          </p:nvPr>
        </p:nvSpPr>
        <p:spPr>
          <a:xfrm>
            <a:off x="1096819" y="2610716"/>
            <a:ext cx="10515600" cy="2062884"/>
          </a:xfrm>
        </p:spPr>
        <p:txBody>
          <a:bodyPr/>
          <a:lstStyle/>
          <a:p>
            <a:r>
              <a:rPr lang="en-US" dirty="0" smtClean="0"/>
              <a:t>Patanjali retail distributors face inventory inefficiencies leading to high expiry loss, overstocking, and missed sales opportunities due to stock outs. Management requires a centralized view of sales, profit, stock health, and demand trends across cities and product categories.</a:t>
            </a:r>
            <a:endParaRPr lang="en-IN" dirty="0"/>
          </a:p>
        </p:txBody>
      </p:sp>
    </p:spTree>
    <p:extLst>
      <p:ext uri="{BB962C8B-B14F-4D97-AF65-F5344CB8AC3E}">
        <p14:creationId xmlns:p14="http://schemas.microsoft.com/office/powerpoint/2010/main" val="788248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909" y="1473488"/>
            <a:ext cx="10515600" cy="1137227"/>
          </a:xfrm>
        </p:spPr>
        <p:txBody>
          <a:bodyPr>
            <a:normAutofit/>
          </a:bodyPr>
          <a:lstStyle/>
          <a:p>
            <a:r>
              <a:rPr lang="en-IN" sz="3600" b="1" dirty="0" smtClean="0">
                <a:latin typeface="+mn-lt"/>
              </a:rPr>
              <a:t>Project Objectives :-</a:t>
            </a:r>
            <a:endParaRPr lang="en-IN" sz="3600" b="1" dirty="0">
              <a:latin typeface="+mn-lt"/>
            </a:endParaRPr>
          </a:p>
        </p:txBody>
      </p:sp>
      <p:sp>
        <p:nvSpPr>
          <p:cNvPr id="3" name="Content Placeholder 2"/>
          <p:cNvSpPr>
            <a:spLocks noGrp="1"/>
          </p:cNvSpPr>
          <p:nvPr>
            <p:ph idx="1"/>
          </p:nvPr>
        </p:nvSpPr>
        <p:spPr>
          <a:xfrm>
            <a:off x="1235364" y="2444462"/>
            <a:ext cx="10515600" cy="2755611"/>
          </a:xfrm>
        </p:spPr>
        <p:txBody>
          <a:bodyPr/>
          <a:lstStyle/>
          <a:p>
            <a:r>
              <a:rPr lang="en-US" dirty="0" smtClean="0"/>
              <a:t>Analyze sales and profit performance</a:t>
            </a:r>
          </a:p>
          <a:p>
            <a:r>
              <a:rPr lang="en-US" dirty="0" smtClean="0"/>
              <a:t>Identify top-performing cities and categories</a:t>
            </a:r>
          </a:p>
          <a:p>
            <a:r>
              <a:rPr lang="en-US" dirty="0" smtClean="0"/>
              <a:t>Understand market-wise demand trends</a:t>
            </a:r>
          </a:p>
          <a:p>
            <a:r>
              <a:rPr lang="en-US" dirty="0" smtClean="0"/>
              <a:t>Analyze inventory health (stock &amp; expiry)</a:t>
            </a:r>
          </a:p>
          <a:p>
            <a:r>
              <a:rPr lang="en-US" dirty="0" smtClean="0"/>
              <a:t>Support management decision-making</a:t>
            </a:r>
            <a:endParaRPr lang="en-US" dirty="0"/>
          </a:p>
        </p:txBody>
      </p:sp>
    </p:spTree>
    <p:extLst>
      <p:ext uri="{BB962C8B-B14F-4D97-AF65-F5344CB8AC3E}">
        <p14:creationId xmlns:p14="http://schemas.microsoft.com/office/powerpoint/2010/main" val="601466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3833091" cy="655782"/>
          </a:xfrm>
        </p:spPr>
        <p:txBody>
          <a:bodyPr>
            <a:normAutofit fontScale="90000"/>
          </a:bodyPr>
          <a:lstStyle/>
          <a:p>
            <a:r>
              <a:rPr lang="en-IN" sz="3600" b="1" dirty="0" smtClean="0">
                <a:latin typeface="+mn-lt"/>
              </a:rPr>
              <a:t>Dataset Overview :-</a:t>
            </a:r>
            <a:endParaRPr lang="en-IN" sz="3600" b="1" dirty="0">
              <a:latin typeface="+mn-lt"/>
            </a:endParaRPr>
          </a:p>
        </p:txBody>
      </p:sp>
      <p:sp>
        <p:nvSpPr>
          <p:cNvPr id="4" name="Rectangle 1"/>
          <p:cNvSpPr>
            <a:spLocks noGrp="1" noChangeArrowheads="1"/>
          </p:cNvSpPr>
          <p:nvPr>
            <p:ph idx="1"/>
          </p:nvPr>
        </p:nvSpPr>
        <p:spPr bwMode="auto">
          <a:xfrm>
            <a:off x="3757468" y="-18472"/>
            <a:ext cx="8240567" cy="6762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rPr>
              <a:t>Dataset Name:</a:t>
            </a:r>
            <a:r>
              <a:rPr kumimoji="0" lang="en-US" altLang="en-US" sz="1800" b="0" i="0" u="none" strike="noStrike" cap="none" normalizeH="0" baseline="0" dirty="0" smtClean="0">
                <a:ln>
                  <a:noFill/>
                </a:ln>
                <a:solidFill>
                  <a:schemeClr val="tx1"/>
                </a:solidFill>
                <a:effectLst/>
              </a:rPr>
              <a:t> </a:t>
            </a:r>
            <a:r>
              <a:rPr kumimoji="0" lang="en-US" altLang="en-US" sz="1800" b="0" i="0" u="none" strike="noStrike" cap="none" normalizeH="0" baseline="0" dirty="0" err="1" smtClean="0">
                <a:ln>
                  <a:noFill/>
                </a:ln>
                <a:solidFill>
                  <a:schemeClr val="tx1"/>
                </a:solidFill>
                <a:effectLst/>
              </a:rPr>
              <a:t>Patanjali</a:t>
            </a:r>
            <a:r>
              <a:rPr kumimoji="0" lang="en-US" altLang="en-US" sz="1800" b="0" i="0" u="none" strike="noStrike" cap="none" normalizeH="0" baseline="0" dirty="0" smtClean="0">
                <a:ln>
                  <a:noFill/>
                </a:ln>
                <a:solidFill>
                  <a:schemeClr val="tx1"/>
                </a:solidFill>
                <a:effectLst/>
              </a:rPr>
              <a:t> Retail Distributor Sales Data</a:t>
            </a:r>
          </a:p>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rPr>
              <a:t>Data Type:</a:t>
            </a:r>
            <a:r>
              <a:rPr kumimoji="0" lang="en-US" altLang="en-US" sz="1800" b="0" i="0" u="none" strike="noStrike" cap="none" normalizeH="0" baseline="0" dirty="0" smtClean="0">
                <a:ln>
                  <a:noFill/>
                </a:ln>
                <a:solidFill>
                  <a:schemeClr val="tx1"/>
                </a:solidFill>
                <a:effectLst/>
              </a:rPr>
              <a:t> Structured retail transaction data</a:t>
            </a:r>
          </a:p>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rPr>
              <a:t>Number of Records:</a:t>
            </a:r>
            <a:r>
              <a:rPr kumimoji="0" lang="en-US" altLang="en-US" sz="1800" b="0" i="0" u="none" strike="noStrike" cap="none" normalizeH="0" baseline="0" dirty="0" smtClean="0">
                <a:ln>
                  <a:noFill/>
                </a:ln>
                <a:solidFill>
                  <a:schemeClr val="tx1"/>
                </a:solidFill>
                <a:effectLst/>
              </a:rPr>
              <a:t> ~50,000+ transactions </a:t>
            </a:r>
            <a:r>
              <a:rPr kumimoji="0" lang="en-US" altLang="en-US" sz="1800" b="0" i="1" u="none" strike="noStrike" cap="none" normalizeH="0" baseline="0" dirty="0" smtClean="0">
                <a:ln>
                  <a:noFill/>
                </a:ln>
                <a:solidFill>
                  <a:schemeClr val="tx1"/>
                </a:solidFill>
                <a:effectLst/>
              </a:rPr>
              <a:t>(approx.)</a:t>
            </a:r>
            <a:endParaRPr kumimoji="0" lang="en-US" altLang="en-US" sz="1800" b="0" i="0" u="none" strike="noStrike" cap="none" normalizeH="0" baseline="0" dirty="0" smtClean="0">
              <a:ln>
                <a:noFill/>
              </a:ln>
              <a:solidFill>
                <a:schemeClr val="tx1"/>
              </a:solidFill>
              <a:effectLst/>
            </a:endParaRPr>
          </a:p>
          <a:p>
            <a:pPr marR="0" lvl="0"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smtClean="0">
                <a:ln>
                  <a:noFill/>
                </a:ln>
                <a:solidFill>
                  <a:schemeClr val="tx1"/>
                </a:solidFill>
                <a:effectLst/>
              </a:rPr>
              <a:t>Number of Columns:</a:t>
            </a:r>
            <a:r>
              <a:rPr kumimoji="0" lang="en-US" altLang="en-US" sz="1800" b="0" i="0" u="none" strike="noStrike" cap="none" normalizeH="0" baseline="0" dirty="0" smtClean="0">
                <a:ln>
                  <a:noFill/>
                </a:ln>
                <a:solidFill>
                  <a:schemeClr val="tx1"/>
                </a:solidFill>
                <a:effectLst/>
              </a:rPr>
              <a:t> 18–20 </a:t>
            </a:r>
            <a:r>
              <a:rPr kumimoji="0" lang="en-US" altLang="en-US" sz="1800" b="0" i="0" u="none" strike="noStrike" cap="none" normalizeH="0" baseline="0" dirty="0" smtClean="0">
                <a:ln>
                  <a:noFill/>
                </a:ln>
                <a:solidFill>
                  <a:schemeClr val="tx1"/>
                </a:solidFill>
                <a:effectLst/>
                <a:latin typeface="Arial" panose="020B0604020202020204" pitchFamily="34" charset="0"/>
              </a:rPr>
              <a:t>key variables</a:t>
            </a:r>
          </a:p>
          <a:p>
            <a:pPr>
              <a:buFont typeface="Wingdings" panose="05000000000000000000" pitchFamily="2" charset="2"/>
              <a:buChar char="v"/>
            </a:pPr>
            <a:r>
              <a:rPr lang="en-IN" sz="1800" b="1" dirty="0" smtClean="0"/>
              <a:t>Key Attributes:</a:t>
            </a:r>
          </a:p>
          <a:p>
            <a:r>
              <a:rPr lang="en-IN" sz="1800" b="1" dirty="0" smtClean="0"/>
              <a:t>Transaction ID:</a:t>
            </a:r>
            <a:r>
              <a:rPr lang="en-IN" sz="1800" dirty="0" smtClean="0"/>
              <a:t> Unique identifier for each sale</a:t>
            </a:r>
          </a:p>
          <a:p>
            <a:r>
              <a:rPr lang="en-IN" sz="1800" b="1" dirty="0" smtClean="0"/>
              <a:t>Date:</a:t>
            </a:r>
            <a:r>
              <a:rPr lang="en-IN" sz="1800" dirty="0" smtClean="0"/>
              <a:t> Transaction date</a:t>
            </a:r>
          </a:p>
          <a:p>
            <a:r>
              <a:rPr lang="en-IN" sz="1800" b="1" dirty="0" smtClean="0"/>
              <a:t>City / State / Region:</a:t>
            </a:r>
            <a:r>
              <a:rPr lang="en-IN" sz="1800" dirty="0" smtClean="0"/>
              <a:t> Geographic information</a:t>
            </a:r>
          </a:p>
          <a:p>
            <a:r>
              <a:rPr lang="en-IN" sz="1800" b="1" dirty="0" smtClean="0"/>
              <a:t>Product Name:</a:t>
            </a:r>
            <a:r>
              <a:rPr lang="en-IN" sz="1800" dirty="0" smtClean="0"/>
              <a:t> Patanjali product details</a:t>
            </a:r>
          </a:p>
          <a:p>
            <a:r>
              <a:rPr lang="en-IN" sz="1800" b="1" dirty="0" smtClean="0"/>
              <a:t>Category:</a:t>
            </a:r>
            <a:r>
              <a:rPr lang="en-IN" sz="1800" dirty="0" smtClean="0"/>
              <a:t> Product category (Food, Personal Care, Ayurvedic, etc.)</a:t>
            </a:r>
          </a:p>
          <a:p>
            <a:r>
              <a:rPr lang="en-IN" sz="1800" b="1" dirty="0" smtClean="0"/>
              <a:t>MRP / Selling Price / Cost Price:</a:t>
            </a:r>
            <a:r>
              <a:rPr lang="en-IN" sz="1800" dirty="0" smtClean="0"/>
              <a:t> Pricing details</a:t>
            </a:r>
          </a:p>
          <a:p>
            <a:r>
              <a:rPr lang="en-IN" sz="1800" b="1" dirty="0" smtClean="0"/>
              <a:t>Quantity Sold:</a:t>
            </a:r>
            <a:r>
              <a:rPr lang="en-IN" sz="1800" dirty="0" smtClean="0"/>
              <a:t> Units sold per transaction</a:t>
            </a:r>
          </a:p>
          <a:p>
            <a:r>
              <a:rPr lang="en-IN" sz="1800" b="1" dirty="0" smtClean="0"/>
              <a:t>Total Sales:</a:t>
            </a:r>
            <a:r>
              <a:rPr lang="en-IN" sz="1800" dirty="0" smtClean="0"/>
              <a:t> Total sales value per transaction</a:t>
            </a:r>
          </a:p>
          <a:p>
            <a:r>
              <a:rPr lang="en-IN" sz="1800" b="1" dirty="0" smtClean="0"/>
              <a:t>Profit:</a:t>
            </a:r>
            <a:r>
              <a:rPr lang="en-IN" sz="1800" dirty="0" smtClean="0"/>
              <a:t> Profit earned per transaction</a:t>
            </a:r>
          </a:p>
          <a:p>
            <a:r>
              <a:rPr lang="en-IN" sz="1800" b="1" dirty="0" smtClean="0"/>
              <a:t>Stock Available:</a:t>
            </a:r>
            <a:r>
              <a:rPr lang="en-IN" sz="1800" dirty="0" smtClean="0"/>
              <a:t> Inventory level</a:t>
            </a:r>
          </a:p>
          <a:p>
            <a:r>
              <a:rPr lang="en-IN" sz="1800" b="1" dirty="0" smtClean="0"/>
              <a:t>Market Type:</a:t>
            </a:r>
            <a:r>
              <a:rPr lang="en-IN" sz="1800" dirty="0" smtClean="0"/>
              <a:t> Urban / Metro / Semi-Urban</a:t>
            </a:r>
          </a:p>
          <a:p>
            <a:r>
              <a:rPr lang="en-IN" sz="1800" b="1" dirty="0" smtClean="0"/>
              <a:t>Manufacture Date / Expiry Date:</a:t>
            </a:r>
            <a:r>
              <a:rPr lang="en-IN" sz="1800" dirty="0" smtClean="0"/>
              <a:t> Product lifecycle information</a:t>
            </a:r>
          </a:p>
          <a:p>
            <a:r>
              <a:rPr lang="en-IN" sz="1800" b="1" dirty="0" smtClean="0"/>
              <a:t>Days_To_Expiry:</a:t>
            </a:r>
            <a:r>
              <a:rPr lang="en-IN" sz="1800" dirty="0" smtClean="0"/>
              <a:t> Remaining shelf life in days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69160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6382" y="1464252"/>
            <a:ext cx="5322455" cy="1325563"/>
          </a:xfrm>
        </p:spPr>
        <p:txBody>
          <a:bodyPr>
            <a:normAutofit/>
          </a:bodyPr>
          <a:lstStyle/>
          <a:p>
            <a:r>
              <a:rPr lang="en-IN" sz="3600" b="1" dirty="0" smtClean="0">
                <a:latin typeface="+mn-lt"/>
              </a:rPr>
              <a:t>Data Cleaning Process :-</a:t>
            </a:r>
            <a:endParaRPr lang="en-IN" sz="3600" b="1" dirty="0">
              <a:latin typeface="+mn-lt"/>
            </a:endParaRPr>
          </a:p>
        </p:txBody>
      </p:sp>
      <p:sp>
        <p:nvSpPr>
          <p:cNvPr id="4" name="Rectangle 1"/>
          <p:cNvSpPr>
            <a:spLocks noGrp="1" noChangeArrowheads="1"/>
          </p:cNvSpPr>
          <p:nvPr>
            <p:ph idx="1"/>
          </p:nvPr>
        </p:nvSpPr>
        <p:spPr bwMode="auto">
          <a:xfrm>
            <a:off x="1540164" y="2471510"/>
            <a:ext cx="7193059"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rPr>
              <a:t>Removed null values from critical columns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rPr>
              <a:t>Handled missing categorical values using mode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rPr>
              <a:t>Converted date columns to date time format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rPr>
              <a:t>Removed irrelevant categories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smtClean="0">
                <a:ln>
                  <a:noFill/>
                </a:ln>
                <a:solidFill>
                  <a:schemeClr val="tx1"/>
                </a:solidFill>
                <a:effectLst/>
              </a:rPr>
              <a:t>Final clean dataset prepared for analysis</a:t>
            </a:r>
          </a:p>
        </p:txBody>
      </p:sp>
    </p:spTree>
    <p:extLst>
      <p:ext uri="{BB962C8B-B14F-4D97-AF65-F5344CB8AC3E}">
        <p14:creationId xmlns:p14="http://schemas.microsoft.com/office/powerpoint/2010/main" val="35620891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061527" cy="581890"/>
          </a:xfrm>
        </p:spPr>
        <p:txBody>
          <a:bodyPr>
            <a:normAutofit fontScale="90000"/>
          </a:bodyPr>
          <a:lstStyle/>
          <a:p>
            <a:r>
              <a:rPr lang="en-IN" sz="3600" dirty="0"/>
              <a:t> </a:t>
            </a:r>
            <a:r>
              <a:rPr lang="en-IN" sz="3600" b="1" dirty="0">
                <a:latin typeface="+mn-lt"/>
              </a:rPr>
              <a:t>Total Sales </a:t>
            </a:r>
            <a:r>
              <a:rPr lang="en-IN" sz="3600" b="1" dirty="0" smtClean="0">
                <a:latin typeface="+mn-lt"/>
              </a:rPr>
              <a:t>Distribution :-</a:t>
            </a:r>
            <a:endParaRPr lang="en-IN" sz="3600" b="1" dirty="0">
              <a:latin typeface="+mn-lt"/>
            </a:endParaRPr>
          </a:p>
        </p:txBody>
      </p:sp>
      <p:pic>
        <p:nvPicPr>
          <p:cNvPr id="4" name="Content Placeholder 3"/>
          <p:cNvPicPr>
            <a:picLocks noGrp="1" noChangeAspect="1"/>
          </p:cNvPicPr>
          <p:nvPr>
            <p:ph idx="1"/>
          </p:nvPr>
        </p:nvPicPr>
        <p:blipFill>
          <a:blip r:embed="rId2"/>
          <a:stretch>
            <a:fillRect/>
          </a:stretch>
        </p:blipFill>
        <p:spPr>
          <a:xfrm>
            <a:off x="1821392" y="425116"/>
            <a:ext cx="8809662" cy="4122594"/>
          </a:xfrm>
          <a:prstGeom prst="rect">
            <a:avLst/>
          </a:prstGeom>
        </p:spPr>
      </p:pic>
      <p:sp>
        <p:nvSpPr>
          <p:cNvPr id="5" name="Rectangle 4"/>
          <p:cNvSpPr/>
          <p:nvPr/>
        </p:nvSpPr>
        <p:spPr>
          <a:xfrm>
            <a:off x="484920" y="4547710"/>
            <a:ext cx="11482606" cy="1754326"/>
          </a:xfrm>
          <a:prstGeom prst="rect">
            <a:avLst/>
          </a:prstGeom>
        </p:spPr>
        <p:txBody>
          <a:bodyPr wrap="square">
            <a:spAutoFit/>
          </a:bodyPr>
          <a:lstStyle/>
          <a:p>
            <a:r>
              <a:rPr lang="en-IN" b="1" dirty="0" smtClean="0"/>
              <a:t>Observation :-</a:t>
            </a:r>
          </a:p>
          <a:p>
            <a:pPr marL="285750" indent="-285750">
              <a:buFont typeface="Arial" panose="020B0604020202020204" pitchFamily="34" charset="0"/>
              <a:buChar char="•"/>
            </a:pPr>
            <a:r>
              <a:rPr lang="en-IN" dirty="0" smtClean="0"/>
              <a:t> </a:t>
            </a:r>
            <a:r>
              <a:rPr lang="en-IN" b="1" dirty="0"/>
              <a:t> </a:t>
            </a:r>
            <a:r>
              <a:rPr lang="en-US" dirty="0" smtClean="0"/>
              <a:t>The Total Sales distribution is highly right-skewed, with most transactions concentrated at lower sales values. A large number of transactions generate small to medium sales amounts. Only a few transactions record extremely high sales values, creating visible outliers. These high-value sales significantly increase the overall average sales. The wide spread in sales values indicates variability in order size across customers. This pattern is typical in retail, where bulk purchases contribute disproportionately to total revenue.</a:t>
            </a:r>
            <a:endParaRPr lang="en-US" dirty="0"/>
          </a:p>
        </p:txBody>
      </p:sp>
    </p:spTree>
    <p:extLst>
      <p:ext uri="{BB962C8B-B14F-4D97-AF65-F5344CB8AC3E}">
        <p14:creationId xmlns:p14="http://schemas.microsoft.com/office/powerpoint/2010/main" val="3299256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36" y="78797"/>
            <a:ext cx="3786909" cy="576985"/>
          </a:xfrm>
        </p:spPr>
        <p:txBody>
          <a:bodyPr>
            <a:normAutofit fontScale="90000"/>
          </a:bodyPr>
          <a:lstStyle/>
          <a:p>
            <a:r>
              <a:rPr lang="en-IN" sz="3600" b="1" dirty="0" smtClean="0">
                <a:latin typeface="+mn-lt"/>
              </a:rPr>
              <a:t>Total Sales vs Profit :-</a:t>
            </a:r>
            <a:endParaRPr lang="en-IN" sz="3600" b="1" dirty="0">
              <a:latin typeface="+mn-lt"/>
            </a:endParaRPr>
          </a:p>
        </p:txBody>
      </p:sp>
      <p:pic>
        <p:nvPicPr>
          <p:cNvPr id="11" name="Content Placeholder 5"/>
          <p:cNvPicPr>
            <a:picLocks noChangeAspect="1"/>
          </p:cNvPicPr>
          <p:nvPr/>
        </p:nvPicPr>
        <p:blipFill>
          <a:blip r:embed="rId2"/>
          <a:stretch>
            <a:fillRect/>
          </a:stretch>
        </p:blipFill>
        <p:spPr>
          <a:xfrm>
            <a:off x="3657601" y="-73890"/>
            <a:ext cx="8456022" cy="4351338"/>
          </a:xfrm>
          <a:prstGeom prst="rect">
            <a:avLst/>
          </a:prstGeom>
        </p:spPr>
      </p:pic>
      <p:sp>
        <p:nvSpPr>
          <p:cNvPr id="12" name="Content Placeholder 11"/>
          <p:cNvSpPr>
            <a:spLocks noGrp="1"/>
          </p:cNvSpPr>
          <p:nvPr>
            <p:ph idx="1"/>
          </p:nvPr>
        </p:nvSpPr>
        <p:spPr>
          <a:xfrm>
            <a:off x="92364" y="4396509"/>
            <a:ext cx="11794836" cy="2327564"/>
          </a:xfrm>
        </p:spPr>
        <p:txBody>
          <a:bodyPr>
            <a:normAutofit/>
          </a:bodyPr>
          <a:lstStyle/>
          <a:p>
            <a:r>
              <a:rPr lang="en-IN" sz="2000" b="1" dirty="0" smtClean="0"/>
              <a:t>Observation:-</a:t>
            </a:r>
          </a:p>
          <a:p>
            <a:r>
              <a:rPr lang="en-US" sz="2000" dirty="0" smtClean="0"/>
              <a:t>Total Sales and Profit show a strong positive relationship, where an increase in sales generally results in higher profit. Most transactions fall within low to medium sales ranges but still contribute consistently to profit. A small number of high-value transactions generate a significant portion of total revenue and profit. The presence of these high-value sales increases overall profit variability. This pattern indicates effective pricing and cost management across products. Overall, sales growth directly supports profitability for the business.</a:t>
            </a:r>
            <a:endParaRPr lang="en-IN" sz="2000" dirty="0"/>
          </a:p>
        </p:txBody>
      </p:sp>
    </p:spTree>
    <p:extLst>
      <p:ext uri="{BB962C8B-B14F-4D97-AF65-F5344CB8AC3E}">
        <p14:creationId xmlns:p14="http://schemas.microsoft.com/office/powerpoint/2010/main" val="844355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703782" cy="471055"/>
          </a:xfrm>
        </p:spPr>
        <p:txBody>
          <a:bodyPr>
            <a:normAutofit fontScale="90000"/>
          </a:bodyPr>
          <a:lstStyle/>
          <a:p>
            <a:r>
              <a:rPr lang="en-IN" sz="2400" b="1" dirty="0" smtClean="0">
                <a:latin typeface="+mn-lt"/>
              </a:rPr>
              <a:t>Category-wise Performance:-</a:t>
            </a:r>
            <a:endParaRPr lang="en-IN" sz="2400" b="1" dirty="0">
              <a:latin typeface="+mn-lt"/>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8546" y="471055"/>
            <a:ext cx="11859490" cy="3429000"/>
          </a:xfrm>
        </p:spPr>
      </p:pic>
      <p:sp>
        <p:nvSpPr>
          <p:cNvPr id="5" name="Rectangle 4"/>
          <p:cNvSpPr/>
          <p:nvPr/>
        </p:nvSpPr>
        <p:spPr>
          <a:xfrm>
            <a:off x="240145" y="4629972"/>
            <a:ext cx="11517745" cy="1785104"/>
          </a:xfrm>
          <a:prstGeom prst="rect">
            <a:avLst/>
          </a:prstGeom>
        </p:spPr>
        <p:txBody>
          <a:bodyPr wrap="square">
            <a:spAutoFit/>
          </a:bodyPr>
          <a:lstStyle/>
          <a:p>
            <a:r>
              <a:rPr lang="en-US" sz="2000" b="1" dirty="0" smtClean="0"/>
              <a:t>Observation:-</a:t>
            </a:r>
          </a:p>
          <a:p>
            <a:pPr marL="285750" indent="-285750">
              <a:buFont typeface="Arial" panose="020B0604020202020204" pitchFamily="34" charset="0"/>
              <a:buChar char="•"/>
            </a:pPr>
            <a:r>
              <a:rPr lang="en-US" dirty="0" smtClean="0"/>
              <a:t>Food &amp; Beverages emerges as the top-performing category, contributing the highest share of total sales and acting as the main revenue driver. Hair Care, </a:t>
            </a:r>
            <a:r>
              <a:rPr lang="en-US" dirty="0" err="1" smtClean="0"/>
              <a:t>Ayurvedic</a:t>
            </a:r>
            <a:r>
              <a:rPr lang="en-US" dirty="0" smtClean="0"/>
              <a:t>, and Skin Care categories also show strong and consistent performance, indicating steady demand. Personal Care and Home Care contribute moderately to overall sales. Categories like Clothing, Furniture, and Stationery record very low sales, suggesting limited demand. Overall, category performance is uneven, with a few categories driving most of the revenue.</a:t>
            </a:r>
            <a:endParaRPr lang="en-US" dirty="0"/>
          </a:p>
        </p:txBody>
      </p:sp>
    </p:spTree>
    <p:extLst>
      <p:ext uri="{BB962C8B-B14F-4D97-AF65-F5344CB8AC3E}">
        <p14:creationId xmlns:p14="http://schemas.microsoft.com/office/powerpoint/2010/main" val="486920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1"/>
            <a:ext cx="4590473" cy="517236"/>
          </a:xfrm>
        </p:spPr>
        <p:txBody>
          <a:bodyPr>
            <a:noAutofit/>
          </a:bodyPr>
          <a:lstStyle/>
          <a:p>
            <a:r>
              <a:rPr lang="en-IN" sz="2400" b="1" dirty="0" smtClean="0">
                <a:latin typeface="+mn-lt"/>
              </a:rPr>
              <a:t>City &amp; Market Type &amp; Total Sales:-</a:t>
            </a:r>
            <a:endParaRPr lang="en-IN" sz="2400" b="1" dirty="0">
              <a:latin typeface="+mn-lt"/>
            </a:endParaRPr>
          </a:p>
        </p:txBody>
      </p:sp>
      <p:pic>
        <p:nvPicPr>
          <p:cNvPr id="4" name="Content Placeholder 3"/>
          <p:cNvPicPr>
            <a:picLocks noGrp="1" noChangeAspect="1"/>
          </p:cNvPicPr>
          <p:nvPr>
            <p:ph idx="1"/>
          </p:nvPr>
        </p:nvPicPr>
        <p:blipFill>
          <a:blip r:embed="rId2"/>
          <a:stretch>
            <a:fillRect/>
          </a:stretch>
        </p:blipFill>
        <p:spPr>
          <a:xfrm>
            <a:off x="209029" y="517237"/>
            <a:ext cx="11653868" cy="4184072"/>
          </a:xfrm>
          <a:prstGeom prst="rect">
            <a:avLst/>
          </a:prstGeom>
        </p:spPr>
      </p:pic>
      <p:sp>
        <p:nvSpPr>
          <p:cNvPr id="11" name="Rectangle 10"/>
          <p:cNvSpPr/>
          <p:nvPr/>
        </p:nvSpPr>
        <p:spPr>
          <a:xfrm>
            <a:off x="0" y="4928275"/>
            <a:ext cx="12071926" cy="1754326"/>
          </a:xfrm>
          <a:prstGeom prst="rect">
            <a:avLst/>
          </a:prstGeom>
        </p:spPr>
        <p:txBody>
          <a:bodyPr wrap="square">
            <a:spAutoFit/>
          </a:bodyPr>
          <a:lstStyle/>
          <a:p>
            <a:pPr marL="285750" indent="-285750">
              <a:buFont typeface="Arial" panose="020B0604020202020204" pitchFamily="34" charset="0"/>
              <a:buChar char="•"/>
            </a:pPr>
            <a:r>
              <a:rPr lang="en-US" b="1" dirty="0" smtClean="0"/>
              <a:t>Observation:</a:t>
            </a:r>
            <a:r>
              <a:rPr lang="en-US" dirty="0" smtClean="0"/>
              <a:t/>
            </a:r>
            <a:br>
              <a:rPr lang="en-US" dirty="0" smtClean="0"/>
            </a:br>
            <a:r>
              <a:rPr lang="en-US" dirty="0" smtClean="0"/>
              <a:t>Urban markets contribute the highest share of total sales across most cities, making them the primary revenue drivers. Metro markets show strong sales in selected cities, indicating higher purchasing power in those locations. Semi-Urban markets provide consistent but comparatively lower contributions across cities. The mix of market types varies by city, showing that sales performance is location-specific. Overall, city-wise sales are strongly influenced by the dominant market type present in that city.</a:t>
            </a:r>
            <a:endParaRPr lang="en-IN" dirty="0"/>
          </a:p>
        </p:txBody>
      </p:sp>
    </p:spTree>
    <p:extLst>
      <p:ext uri="{BB962C8B-B14F-4D97-AF65-F5344CB8AC3E}">
        <p14:creationId xmlns:p14="http://schemas.microsoft.com/office/powerpoint/2010/main" val="531052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595255" cy="484620"/>
          </a:xfrm>
        </p:spPr>
        <p:txBody>
          <a:bodyPr>
            <a:normAutofit/>
          </a:bodyPr>
          <a:lstStyle/>
          <a:p>
            <a:r>
              <a:rPr lang="en-IN" sz="2800" b="1" dirty="0" smtClean="0">
                <a:latin typeface="+mn-lt"/>
              </a:rPr>
              <a:t>Inventory Risk :-</a:t>
            </a:r>
            <a:endParaRPr lang="en-IN" sz="2800" b="1" dirty="0">
              <a:latin typeface="+mn-lt"/>
            </a:endParaRPr>
          </a:p>
        </p:txBody>
      </p:sp>
      <p:pic>
        <p:nvPicPr>
          <p:cNvPr id="4" name="Content Placeholder 3"/>
          <p:cNvPicPr>
            <a:picLocks noGrp="1" noChangeAspect="1"/>
          </p:cNvPicPr>
          <p:nvPr>
            <p:ph idx="1"/>
          </p:nvPr>
        </p:nvPicPr>
        <p:blipFill>
          <a:blip r:embed="rId2"/>
          <a:stretch>
            <a:fillRect/>
          </a:stretch>
        </p:blipFill>
        <p:spPr>
          <a:xfrm>
            <a:off x="0" y="484620"/>
            <a:ext cx="11998036" cy="4253635"/>
          </a:xfrm>
          <a:prstGeom prst="rect">
            <a:avLst/>
          </a:prstGeom>
        </p:spPr>
      </p:pic>
      <p:sp>
        <p:nvSpPr>
          <p:cNvPr id="5" name="Rectangle 4"/>
          <p:cNvSpPr/>
          <p:nvPr/>
        </p:nvSpPr>
        <p:spPr>
          <a:xfrm>
            <a:off x="98017" y="5103674"/>
            <a:ext cx="12020092" cy="2031325"/>
          </a:xfrm>
          <a:prstGeom prst="rect">
            <a:avLst/>
          </a:prstGeom>
        </p:spPr>
        <p:txBody>
          <a:bodyPr wrap="square">
            <a:spAutoFit/>
          </a:bodyPr>
          <a:lstStyle/>
          <a:p>
            <a:pPr marL="285750" indent="-285750">
              <a:buFont typeface="Arial" panose="020B0604020202020204" pitchFamily="34" charset="0"/>
              <a:buChar char="•"/>
            </a:pPr>
            <a:r>
              <a:rPr lang="en-US" b="1" dirty="0" smtClean="0"/>
              <a:t>Observation:</a:t>
            </a:r>
            <a:r>
              <a:rPr lang="en-US" dirty="0" smtClean="0"/>
              <a:t/>
            </a:r>
            <a:br>
              <a:rPr lang="en-US" dirty="0" smtClean="0"/>
            </a:br>
            <a:r>
              <a:rPr lang="en-US" dirty="0" smtClean="0"/>
              <a:t>The inventory risk analysis identifies several products with high risk due to low stock availability or nearing expiry dates. These products appear repeatedly, indicating inconsistent demand and stock planning issues. Some items risk expiry losses because they are not moving fast enough. Others face </a:t>
            </a:r>
            <a:r>
              <a:rPr lang="en-US" dirty="0" err="1" smtClean="0"/>
              <a:t>stockout</a:t>
            </a:r>
            <a:r>
              <a:rPr lang="en-US" dirty="0" smtClean="0"/>
              <a:t> risks, which can lead to missed sales opportunities. The presence of multiple high-risk products suggests gaps in demand forecasting. Inefficient replenishment cycles contribute to inventory imbalance. Overall, inventory health varies significantly across products and needs close monitoring.</a:t>
            </a:r>
          </a:p>
          <a:p>
            <a:r>
              <a:rPr lang="en-US" dirty="0" smtClean="0"/>
              <a:t>.</a:t>
            </a:r>
            <a:endParaRPr lang="en-US" dirty="0"/>
          </a:p>
        </p:txBody>
      </p:sp>
    </p:spTree>
    <p:extLst>
      <p:ext uri="{BB962C8B-B14F-4D97-AF65-F5344CB8AC3E}">
        <p14:creationId xmlns:p14="http://schemas.microsoft.com/office/powerpoint/2010/main" val="3471029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958" y="28282"/>
            <a:ext cx="2567709" cy="785091"/>
          </a:xfrm>
        </p:spPr>
        <p:txBody>
          <a:bodyPr>
            <a:normAutofit/>
          </a:bodyPr>
          <a:lstStyle/>
          <a:p>
            <a:r>
              <a:rPr lang="en-IN" sz="3200" b="1" dirty="0" smtClean="0">
                <a:latin typeface="+mn-lt"/>
              </a:rPr>
              <a:t>Key Insights:-</a:t>
            </a:r>
            <a:endParaRPr lang="en-IN" sz="3200" b="1" dirty="0">
              <a:latin typeface="+mn-lt"/>
            </a:endParaRPr>
          </a:p>
        </p:txBody>
      </p:sp>
      <p:sp>
        <p:nvSpPr>
          <p:cNvPr id="4" name="Rectangle 1"/>
          <p:cNvSpPr>
            <a:spLocks noGrp="1" noChangeArrowheads="1"/>
          </p:cNvSpPr>
          <p:nvPr>
            <p:ph idx="1"/>
          </p:nvPr>
        </p:nvSpPr>
        <p:spPr bwMode="auto">
          <a:xfrm>
            <a:off x="620141" y="771523"/>
            <a:ext cx="8194964"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rPr>
              <a:t>Urban markets are the largest revenue drivers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rPr>
              <a:t>Sales and profit are strongly correlated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rPr>
              <a:t>Category performance varies across cities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rPr>
              <a:t>Inventory planning must be city and market specific</a:t>
            </a:r>
          </a:p>
        </p:txBody>
      </p:sp>
      <p:sp>
        <p:nvSpPr>
          <p:cNvPr id="5" name="Rectangle 4"/>
          <p:cNvSpPr/>
          <p:nvPr/>
        </p:nvSpPr>
        <p:spPr>
          <a:xfrm>
            <a:off x="143958" y="2506770"/>
            <a:ext cx="2279791" cy="584775"/>
          </a:xfrm>
          <a:prstGeom prst="rect">
            <a:avLst/>
          </a:prstGeom>
        </p:spPr>
        <p:txBody>
          <a:bodyPr wrap="none">
            <a:spAutoFit/>
          </a:bodyPr>
          <a:lstStyle/>
          <a:p>
            <a:r>
              <a:rPr lang="en-IN" sz="3200" b="1" dirty="0" smtClean="0"/>
              <a:t>Conclusion:-</a:t>
            </a:r>
            <a:endParaRPr lang="en-IN" sz="2800" b="1" dirty="0"/>
          </a:p>
        </p:txBody>
      </p:sp>
      <p:sp>
        <p:nvSpPr>
          <p:cNvPr id="6" name="Rectangle 5"/>
          <p:cNvSpPr/>
          <p:nvPr/>
        </p:nvSpPr>
        <p:spPr>
          <a:xfrm>
            <a:off x="1171575" y="3257132"/>
            <a:ext cx="10172700" cy="3416320"/>
          </a:xfrm>
          <a:prstGeom prst="rect">
            <a:avLst/>
          </a:prstGeom>
        </p:spPr>
        <p:txBody>
          <a:bodyPr wrap="square">
            <a:spAutoFit/>
          </a:bodyPr>
          <a:lstStyle/>
          <a:p>
            <a:r>
              <a:rPr lang="en-US" sz="2400" dirty="0" smtClean="0"/>
              <a:t>This project analyzed Patanjali retail distributor data to understand sales performance, profitability, inventory health, and demand trends. The analysis revealed that Food &amp; Beverages is the primary revenue driver, while sales and profit show a strong positive relationship. Urban markets contribute the highest sales across top cities, highlighting their strategic importance. Inventory risk analysis identified products prone to expiry and stock imbalance, indicating the need for better stock planning. Overall, the insights support data-driven decisions to improve inventory efficiency, reduce losses, and maximize profitability.</a:t>
            </a:r>
            <a:endParaRPr lang="en-US" sz="2400" dirty="0"/>
          </a:p>
        </p:txBody>
      </p:sp>
    </p:spTree>
    <p:extLst>
      <p:ext uri="{BB962C8B-B14F-4D97-AF65-F5344CB8AC3E}">
        <p14:creationId xmlns:p14="http://schemas.microsoft.com/office/powerpoint/2010/main" val="2679217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308" y="583143"/>
            <a:ext cx="5800725" cy="749299"/>
          </a:xfrm>
        </p:spPr>
        <p:txBody>
          <a:bodyPr>
            <a:normAutofit/>
          </a:bodyPr>
          <a:lstStyle/>
          <a:p>
            <a:r>
              <a:rPr lang="en-IN" sz="3600" b="1" dirty="0" smtClean="0">
                <a:latin typeface="+mn-lt"/>
              </a:rPr>
              <a:t>Business Recommendations:-</a:t>
            </a:r>
            <a:endParaRPr lang="en-IN" sz="3600" b="1" dirty="0">
              <a:latin typeface="+mn-lt"/>
            </a:endParaRPr>
          </a:p>
        </p:txBody>
      </p:sp>
      <p:sp>
        <p:nvSpPr>
          <p:cNvPr id="4" name="Rectangle 1"/>
          <p:cNvSpPr>
            <a:spLocks noGrp="1" noChangeArrowheads="1"/>
          </p:cNvSpPr>
          <p:nvPr>
            <p:ph idx="1"/>
          </p:nvPr>
        </p:nvSpPr>
        <p:spPr bwMode="auto">
          <a:xfrm>
            <a:off x="948266" y="1332442"/>
            <a:ext cx="10734676" cy="4760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dirty="0" smtClean="0"/>
              <a:t>Total Sales Distribution: Since most transactions are low to medium value with a few high-value outliers, the company should focus on high-volume fast-moving products while strategically managing bulk orders to stabilize revenue flow.</a:t>
            </a:r>
          </a:p>
          <a:p>
            <a:r>
              <a:rPr lang="en-US" sz="2000" dirty="0" smtClean="0"/>
              <a:t>Total Sales vs Profit: As sales and profit show a strong positive relationship, management should prioritize increasing sales volume in high-margin products to directly improve overall profitability.</a:t>
            </a:r>
          </a:p>
          <a:p>
            <a:r>
              <a:rPr lang="en-US" sz="2000" dirty="0" smtClean="0"/>
              <a:t>Category-wise Performance: With Food &amp; Beverages and select personal care categories driving most sales, inventory and marketing efforts should be concentrated on top-performing categories while optimizing or reducing low-demand categories.</a:t>
            </a:r>
          </a:p>
          <a:p>
            <a:r>
              <a:rPr lang="en-US" sz="2000" dirty="0" smtClean="0"/>
              <a:t>City × Market Type × Total Sales: Since urban markets dominate sales across most cities, distribution and supply chain strategies should be strengthened in urban areas, with customized plans for metro and semi-urban markets.</a:t>
            </a:r>
          </a:p>
          <a:p>
            <a:r>
              <a:rPr lang="en-US" sz="2000" dirty="0" smtClean="0"/>
              <a:t>Inventory Risk: The presence of high-risk products near expiry or with low stock levels indicates the need for improved demand forecasting and timely stock rotation to minimize losses and prevent </a:t>
            </a:r>
            <a:r>
              <a:rPr lang="en-US" sz="2000" dirty="0" err="1" smtClean="0"/>
              <a:t>stockouts</a:t>
            </a:r>
            <a:r>
              <a:rPr lang="en-US" sz="2000" dirty="0" smtClean="0"/>
              <a: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617724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815</TotalTime>
  <Words>767</Words>
  <Application>Microsoft Office PowerPoint</Application>
  <PresentationFormat>Widescreen</PresentationFormat>
  <Paragraphs>62</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Office Theme</vt:lpstr>
      <vt:lpstr>Sales, Profit &amp; Inventory Analysis of Patanjali Retail Distributors </vt:lpstr>
      <vt:lpstr>Business Problem :-</vt:lpstr>
      <vt:lpstr>Project Objectives :-</vt:lpstr>
      <vt:lpstr>Dataset Overview :-</vt:lpstr>
      <vt:lpstr>Data Cleaning Process :-</vt:lpstr>
      <vt:lpstr> Total Sales Distribution :-</vt:lpstr>
      <vt:lpstr>Total Sales vs Profit :-</vt:lpstr>
      <vt:lpstr>Category-wise Performance:-</vt:lpstr>
      <vt:lpstr>City &amp; Market Type &amp; Total Sales:-</vt:lpstr>
      <vt:lpstr>Inventory Risk :-</vt:lpstr>
      <vt:lpstr>Key Insights:-</vt:lpstr>
      <vt:lpstr>Business Recommendations:-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JS COMPUTERS</dc:creator>
  <cp:lastModifiedBy>JS COMPUTERS</cp:lastModifiedBy>
  <cp:revision>27</cp:revision>
  <dcterms:created xsi:type="dcterms:W3CDTF">2026-01-08T05:41:23Z</dcterms:created>
  <dcterms:modified xsi:type="dcterms:W3CDTF">2026-01-09T13:14:08Z</dcterms:modified>
</cp:coreProperties>
</file>